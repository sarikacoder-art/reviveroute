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28d730ecee47a9" /><Relationship Type="http://schemas.openxmlformats.org/officeDocument/2006/relationships/extended-properties" Target="/docProps/app.xml" Id="R60769912efe34c15" /><Relationship Type="http://schemas.openxmlformats.org/officeDocument/2006/relationships/officeDocument" Target="/ppt/presentation.xml" Id="R81542809c2084e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633eebb10542e7"/>
  </p:sldMasterIdLst>
  <p:notesMasterIdLst>
    <p:notesMasterId xmlns:r="http://schemas.openxmlformats.org/officeDocument/2006/relationships" r:id="R78a8c4490fa84229"/>
  </p:notesMasterIdLst>
  <p:sldIdLst>
    <p:sldId xmlns:r="http://schemas.openxmlformats.org/officeDocument/2006/relationships" id="256" r:id="R5e5f5de5b0a44083"/>
    <p:sldId xmlns:r="http://schemas.openxmlformats.org/officeDocument/2006/relationships" id="257" r:id="R410a7f350aa142a8"/>
    <p:sldId xmlns:r="http://schemas.openxmlformats.org/officeDocument/2006/relationships" id="258" r:id="R4ce91129128248e9"/>
    <p:sldId xmlns:r="http://schemas.openxmlformats.org/officeDocument/2006/relationships" id="259" r:id="Rf5dfbd7a6f8a425b"/>
    <p:sldId xmlns:r="http://schemas.openxmlformats.org/officeDocument/2006/relationships" id="260" r:id="Rae2f93d5a4c64b88"/>
    <p:sldId xmlns:r="http://schemas.openxmlformats.org/officeDocument/2006/relationships" id="261" r:id="R50a1bf2b166f4118"/>
    <p:sldId xmlns:r="http://schemas.openxmlformats.org/officeDocument/2006/relationships" id="262" r:id="R64dc0affc3cc498a"/>
    <p:sldId xmlns:r="http://schemas.openxmlformats.org/officeDocument/2006/relationships" id="263" r:id="R2a1272b3562242f6"/>
    <p:sldId xmlns:r="http://schemas.openxmlformats.org/officeDocument/2006/relationships" id="264" r:id="Rdc3d2c76b9ab41cb"/>
    <p:sldId xmlns:r="http://schemas.openxmlformats.org/officeDocument/2006/relationships" id="265" r:id="R15f06966d4754d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3c582550d548c5" /><Relationship Type="http://schemas.openxmlformats.org/officeDocument/2006/relationships/slideMaster" Target="/ppt/slideMasters/slideMaster1.xml" Id="R8e633eebb10542e7" /><Relationship Type="http://schemas.openxmlformats.org/officeDocument/2006/relationships/notesMaster" Target="/ppt/notesMasters/notesMaster1.xml" Id="R78a8c4490fa84229" /><Relationship Type="http://schemas.openxmlformats.org/officeDocument/2006/relationships/presProps" Target="/ppt/presProps.xml" Id="R98273de02a8b4ba2" /><Relationship Type="http://schemas.openxmlformats.org/officeDocument/2006/relationships/tableStyles" Target="/ppt/tableStyles.xml" Id="R0a035e12cb4545a5" /><Relationship Type="http://schemas.openxmlformats.org/officeDocument/2006/relationships/slide" Target="/ppt/slides/slide1.xml" Id="R5e5f5de5b0a44083" /><Relationship Type="http://schemas.openxmlformats.org/officeDocument/2006/relationships/slide" Target="/ppt/slides/slide2.xml" Id="R410a7f350aa142a8" /><Relationship Type="http://schemas.openxmlformats.org/officeDocument/2006/relationships/slide" Target="/ppt/slides/slide3.xml" Id="R4ce91129128248e9" /><Relationship Type="http://schemas.openxmlformats.org/officeDocument/2006/relationships/slide" Target="/ppt/slides/slide4.xml" Id="Rf5dfbd7a6f8a425b" /><Relationship Type="http://schemas.openxmlformats.org/officeDocument/2006/relationships/slide" Target="/ppt/slides/slide5.xml" Id="Rae2f93d5a4c64b88" /><Relationship Type="http://schemas.openxmlformats.org/officeDocument/2006/relationships/slide" Target="/ppt/slides/slide6.xml" Id="R50a1bf2b166f4118" /><Relationship Type="http://schemas.openxmlformats.org/officeDocument/2006/relationships/slide" Target="/ppt/slides/slide7.xml" Id="R64dc0affc3cc498a" /><Relationship Type="http://schemas.openxmlformats.org/officeDocument/2006/relationships/slide" Target="/ppt/slides/slide8.xml" Id="R2a1272b3562242f6" /><Relationship Type="http://schemas.openxmlformats.org/officeDocument/2006/relationships/slide" Target="/ppt/slides/slide9.xml" Id="Rdc3d2c76b9ab41cb" /><Relationship Type="http://schemas.openxmlformats.org/officeDocument/2006/relationships/slide" Target="/ppt/slides/slide10.xml" Id="R15f06966d4754d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31d9b49d6f45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cfe408cb6f4f5d" /><Relationship Type="http://schemas.openxmlformats.org/officeDocument/2006/relationships/notesMaster" Target="/ppt/notesMasters/notesMaster1.xml" Id="Rc423114ddb7d44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912a96189a4ae1" /><Relationship Type="http://schemas.openxmlformats.org/officeDocument/2006/relationships/notesMaster" Target="/ppt/notesMasters/notesMaster1.xml" Id="Rcb509a338dd64d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1571981d2c41b5" /><Relationship Type="http://schemas.openxmlformats.org/officeDocument/2006/relationships/notesMaster" Target="/ppt/notesMasters/notesMaster1.xml" Id="Re24cbd6140d443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8cd8fdbeda42ee" /><Relationship Type="http://schemas.openxmlformats.org/officeDocument/2006/relationships/notesMaster" Target="/ppt/notesMasters/notesMaster1.xml" Id="R5b7e2bd7dc7842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748db32e3d46b6" /><Relationship Type="http://schemas.openxmlformats.org/officeDocument/2006/relationships/notesMaster" Target="/ppt/notesMasters/notesMaster1.xml" Id="R08fa141f53854a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04afb9bf4f477c" /><Relationship Type="http://schemas.openxmlformats.org/officeDocument/2006/relationships/notesMaster" Target="/ppt/notesMasters/notesMaster1.xml" Id="Rec3e381b41004f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efb241c976437d" /><Relationship Type="http://schemas.openxmlformats.org/officeDocument/2006/relationships/notesMaster" Target="/ppt/notesMasters/notesMaster1.xml" Id="R1b2047597d9140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8c9d30e64647ff" /><Relationship Type="http://schemas.openxmlformats.org/officeDocument/2006/relationships/notesMaster" Target="/ppt/notesMasters/notesMaster1.xml" Id="Re74cb0a7ef144c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bf5081e4ab4b99" /><Relationship Type="http://schemas.openxmlformats.org/officeDocument/2006/relationships/notesMaster" Target="/ppt/notesMasters/notesMaster1.xml" Id="R71e3d0a5f5fe46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d2dd11d74148b2" /><Relationship Type="http://schemas.openxmlformats.org/officeDocument/2006/relationships/notesMaster" Target="/ppt/notesMasters/notesMaster1.xml" Id="Rbd275fafd8a74b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core promise. ReviveRoute is intentionally narrow: one-time failed-payment recovery implemented end to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docs/requirement_coverage.md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choice under constraints, not simply prediction. The five failure categories are the deterministic taxonomy used in the prototype.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ml/generate_synthetic_data.py</a:t>
            </a:r>
          </a:p>
          <a:p xmlns:a="http://schemas.openxmlformats.org/drawingml/2006/main">
            <a:r>
              <a:t>- app/webhooks.py</a:t>
            </a:r>
          </a:p>
          <a:p xmlns:a="http://schemas.openxmlformats.org/drawingml/2006/main">
            <a:r>
              <a:t>- app/decision_engine.py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observe and measure are part of the system, not an afterthought.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docs/requirement_coverage.md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layered trust model. A model cannot bypass policy because candidate filtering and state transitions are deterministic.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docs/policy_card.md</a:t>
            </a:r>
          </a:p>
          <a:p xmlns:a="http://schemas.openxmlformats.org/drawingml/2006/main">
            <a:r>
              <a:t>- docs/webhook_security.md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over-explain the formula. The central point is that optimization happens only inside an allowed action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app/decision_engine.py</a:t>
            </a:r>
          </a:p>
          <a:p xmlns:a="http://schemas.openxmlformats.org/drawingml/2006/main">
            <a:r>
              <a:t>- docs/policy_card.md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implementation counts, not market or production-performance claims. Mention the deliberate tampering and replay tests if asked.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supports the live click-through. Be explicit: the outcome is signed simulation, not production revenue.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app/demo.py</a:t>
            </a:r>
          </a:p>
          <a:p xmlns:a="http://schemas.openxmlformats.org/drawingml/2006/main">
            <a:r>
              <a:t>- tests/test_dashboard.py</a:t>
            </a:r>
          </a:p>
          <a:p xmlns:a="http://schemas.openxmlformats.org/drawingml/2006/main">
            <a:r>
              <a:t>- docs/judge_demo_script.md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compliance close. The optional example directions are not presented as mandatory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docs/requirement_coverage.md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credibility slide, not an apology. Honest separation of prediction, simulation and production evidence is a product strength.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docs/model_card.md</a:t>
            </a:r>
          </a:p>
          <a:p xmlns:a="http://schemas.openxmlformats.org/drawingml/2006/main">
            <a:r>
              <a:t>- docs/webhook_security.md</a:t>
            </a:r>
          </a:p>
          <a:p xmlns:a="http://schemas.openxmlformats.org/drawingml/2006/main">
            <a:r>
              <a:t>- docs/requirement_coverage.md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initial promise: selecting the right action is useful only when the workflow is bounded, observable and honest about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docs/judge_qa.md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a97e43c6248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ed895af4c04555" /><Relationship Type="http://schemas.openxmlformats.org/officeDocument/2006/relationships/slideLayout" Target="/ppt/slideLayouts/slideLayout1.xml" Id="Rb7c84225be7540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c84225be7540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8c3a684584f89" /><Relationship Type="http://schemas.openxmlformats.org/officeDocument/2006/relationships/notesSlide" Target="/ppt/notesSlides/notesSlide1.xml" Id="R586b87a263d845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5ac6ed4f04f32" /><Relationship Type="http://schemas.openxmlformats.org/officeDocument/2006/relationships/notesSlide" Target="/ppt/notesSlides/notesSlide2.xml" Id="R378f51a016b041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cabf26cbd4eff" /><Relationship Type="http://schemas.openxmlformats.org/officeDocument/2006/relationships/notesSlide" Target="/ppt/notesSlides/notesSlide3.xml" Id="Re0b15f752a8449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089eeb6f145bc" /><Relationship Type="http://schemas.openxmlformats.org/officeDocument/2006/relationships/notesSlide" Target="/ppt/notesSlides/notesSlide4.xml" Id="R141ca4a828cf4a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2db2984364ab8" /><Relationship Type="http://schemas.openxmlformats.org/officeDocument/2006/relationships/notesSlide" Target="/ppt/notesSlides/notesSlide5.xml" Id="R3139129c95494f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3393d485c4e17" /><Relationship Type="http://schemas.openxmlformats.org/officeDocument/2006/relationships/notesSlide" Target="/ppt/notesSlides/notesSlide6.xml" Id="R0b9877f6e4f14f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128cbf99f456c" /><Relationship Type="http://schemas.openxmlformats.org/officeDocument/2006/relationships/notesSlide" Target="/ppt/notesSlides/notesSlide7.xml" Id="R0d8e8b4c8d724b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efe3c291941ba" /><Relationship Type="http://schemas.openxmlformats.org/officeDocument/2006/relationships/notesSlide" Target="/ppt/notesSlides/notesSlide8.xml" Id="Rbd67d06c6d134b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36832c6574ece" /><Relationship Type="http://schemas.openxmlformats.org/officeDocument/2006/relationships/notesSlide" Target="/ppt/notesSlides/notesSlide9.xml" Id="R50c796b6d77345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e81d695e643e2" /><Relationship Type="http://schemas.openxmlformats.org/officeDocument/2006/relationships/notesSlide" Target="/ppt/notesSlides/notesSlide10.xml" Id="R322595b3bf8b4c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53D5E32B-2ABD-489E-BF2F-3E85A7B7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TRACK 03 · SOLO BUILD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C6453CA-B08F-4AF8-B820-BD6F0B5C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F0B71C9-2E39-415A-9693-420452D2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828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951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ReviveRoute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B9A805B-2784-4100-941B-F01C6D8B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Recover the right payment with the right action—within bounds.</a:t>
            </a:r>
          </a:p>
        </p:txBody>
      </p:sp>
      <p:sp>
        <p:nvSpPr>
          <p:cNvPr id="5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FF019C12-CC68-4E14-8B4E-B7585CA7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209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003752-BBA6-4F36-934B-15993C55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95500"/>
            <a:ext cx="180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</a:t>
            </a:r>
          </a:p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REVENUE</a:t>
            </a:r>
          </a:p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749C356-25A8-45D0-AE4F-59F42B4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Detect · diagnose · decide · execute · observe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A5EFE5-4F73-448A-8619-81A75B4D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Working prototype · 81 automated tests · signed local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928212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40E6C27F-B6A3-4464-A2E4-CB643B5D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RAZORPAY AI BUILDATHON · AI REVENUE RECOVERY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E0326F8D-0C61-4ABE-9943-796294A7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9186B2-8D00-4D2E-917D-AAFA9903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A failed payment needs a decision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9C05DDD-7E0C-4394-BBB0-EA8A44F3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Retrying everything immediately ignores cause, timing, customer context and risk.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C51B906D-9CA0-4E3A-93B7-BCC81DA7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2209CF-2122-49E9-8703-D34DDCD9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C3D5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C3D50"/>
                </a:solidFill>
                <a:latin typeface="Arial"/>
                <a:ea typeface="Arial"/>
                <a:cs typeface="Arial"/>
              </a:rPr>
              <a:t>THE FAILURE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D9B4635-6D16-4095-B9A3-9A242F02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One event can mean insufficient funds, a temporary network issue, a blocked card, a bank limit or a risk decline.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F91A8DD-6754-4794-9604-CFD5133B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4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A single retry rule cannot respond safely to all five.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292218F-B67E-4FE0-83A2-1E0D3DCE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ANSWER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F2FA9ED-498B-430E-8EFB-73F82E90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Score every intervention. Then let deterministic policy delay, block, stop or escalate before anything executes.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CA27309-242D-49B8-950C-1F205A1A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Model proposes. Policy disposes.</a:t>
            </a:r>
          </a:p>
        </p:txBody>
      </p:sp>
    </p:spTree>
    <p:extLst>
      <p:ext uri="{BB962C8B-B14F-4D97-AF65-F5344CB8AC3E}">
        <p14:creationId xmlns:p14="http://schemas.microsoft.com/office/powerpoint/2010/main" val="123817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725A302E-0456-42AF-804D-44D1BDBF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RAZORPAY AI BUILDATHON · AI REVENUE RECOVERY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2788D66-9556-479B-96BA-2199C5D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4B33AF-5172-4D72-BA0F-C2E4EFEA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One recovery loop, implemented end to end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EA9DF7C-9FF7-4A8F-8B97-CA7B1A11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The official requirement is covered by working code—not disconnected feature mockups.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E4F66CA-5C65-4266-A29E-DDB7B178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0B10"/>
            </a:solidFill>
            <a:prstDash val="solid"/>
          </a:ln>
        </p:spPr>
      </p:sp>
      <p:sp>
        <p:nvSpPr>
          <p:cNvPr id="6" name="node">
            <a:extLst xmlns:a="http://schemas.openxmlformats.org/drawingml/2006/main">
              <a:ext uri="{FF2B5EF4-FFF2-40B4-BE49-F238E27FC236}">
                <a16:creationId xmlns:a16="http://schemas.microsoft.com/office/drawing/2014/main" id="{C429B03E-C39F-4935-8BB2-67D4D2DA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node">
            <a:extLst xmlns:a="http://schemas.openxmlformats.org/drawingml/2006/main">
              <a:ext uri="{FF2B5EF4-FFF2-40B4-BE49-F238E27FC236}">
                <a16:creationId xmlns:a16="http://schemas.microsoft.com/office/drawing/2014/main" id="{D2CE31DA-F900-4E24-BB03-000B5D55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A013BA76-F869-4B7C-B3CA-72BE32F1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node">
            <a:extLst xmlns:a="http://schemas.openxmlformats.org/drawingml/2006/main">
              <a:ext uri="{FF2B5EF4-FFF2-40B4-BE49-F238E27FC236}">
                <a16:creationId xmlns:a16="http://schemas.microsoft.com/office/drawing/2014/main" id="{35C99DF3-4ACE-4E6F-85B3-709369D8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node">
            <a:extLst xmlns:a="http://schemas.openxmlformats.org/drawingml/2006/main">
              <a:ext uri="{FF2B5EF4-FFF2-40B4-BE49-F238E27FC236}">
                <a16:creationId xmlns:a16="http://schemas.microsoft.com/office/drawing/2014/main" id="{7F38F1F5-BF6F-4CE2-BB0B-686DE904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E20E0821-BAE6-4335-9DC9-BAF737D4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171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75ACA01-7E34-4FC0-98F6-0AF6664A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14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D46AEDE-D999-4565-AFDF-B358992B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3638550"/>
            <a:ext cx="1562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Signed failure webhook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CBFE47A-EC45-43FF-BA08-B4D3EC85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14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DIAGNOSE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3A8A9C8-24CE-4385-866E-0A38B3EE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38550"/>
            <a:ext cx="1562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Failure + customer context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4F2017B-9E2C-4591-811E-3B57765E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31F684A-0F0A-4977-B96C-5DF1AAF4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638550"/>
            <a:ext cx="1562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Five action probabilities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935A4EF-21A1-4F00-B4F1-183E3921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4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BOUND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C70ED3E-7F81-418B-84CF-99531143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1562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Stop, delay or escalate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BDBDC36-75F6-4DE0-B67B-0770CE7B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6C99A20-58AF-48F2-8E9A-56EF40E6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38550"/>
            <a:ext cx="1562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Safe simulated artifact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7D58A4A-035B-4795-9D3B-7FB3E9C6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14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6C82072-30D8-4DDB-A732-0D38FE2B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638550"/>
            <a:ext cx="1562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Signed outcome attribution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C907775-8328-42A3-B8A3-C3DE8714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3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Measured money and a tamper-evident audit trail close the loop across every case.</a:t>
            </a:r>
          </a:p>
        </p:txBody>
      </p:sp>
    </p:spTree>
    <p:extLst>
      <p:ext uri="{BB962C8B-B14F-4D97-AF65-F5344CB8AC3E}">
        <p14:creationId xmlns:p14="http://schemas.microsoft.com/office/powerpoint/2010/main" val="685787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A3C98571-BF63-4068-9C80-6AD724CB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RAZORPAY AI BUILDATHON · AI REVENUE RECOVERY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6F43070E-E150-4A90-998A-C613351B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0F3A48-6C1D-4B9E-B1C1-3758A97E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Prediction and safety are separate by design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1C42673-6BD9-4B95-8493-91B8B2A3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Flexible learning sits inside deterministic workflow boundaries.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F92658D5-0E38-4879-A8F5-65963FF3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67CB8E-653C-438D-B492-E76030F1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EVENT LAYER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F9F169-2926-45FC-AB05-551BA1C3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842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HMAC verification · exact-body parsing · replay protection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27B1BDF4-4AD2-42FD-902B-286B94B1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7186BA6-063B-441E-94D1-25FC3C29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INTELLIGENCE LAYER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D211BAE-106B-4FD6-8015-C669F1CF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842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Shared features · calibrated action probabilities · expected net value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58C6C23-411B-4371-84D3-F8C6320A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52875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AE8085-4562-42D7-B5C4-9924043A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243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POLICY LAYER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C12069A-6BBA-47FB-B424-80BE1937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14800"/>
            <a:ext cx="842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Opt-out · fatigue · expiry · quiet hours · escalation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8B831E80-C8AF-4663-A146-D6E5D090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BBA851C-6648-4903-B833-D3CEFA6E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815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EVIDENCE LAYER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BD7C0DE-429B-4BE9-A5BD-6792EF3F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72050"/>
            <a:ext cx="8429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SQLite state machine · outcome attribution · SHA-256 audit chain</a:t>
            </a:r>
          </a:p>
        </p:txBody>
      </p:sp>
    </p:spTree>
    <p:extLst>
      <p:ext uri="{BB962C8B-B14F-4D97-AF65-F5344CB8AC3E}">
        <p14:creationId xmlns:p14="http://schemas.microsoft.com/office/powerpoint/2010/main" val="1304638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18AFADB7-552A-44FE-B559-B455F895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RAZORPAY AI BUILDATHON · AI REVENUE RECOVERY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494D8AB-E04F-4C13-9833-1CF49F48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3287B5-63A4-43D8-AB33-61755E45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Score actions, rank value, enforce policy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A0BB683-06A2-4C49-B1B7-035E41CF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P(recovery | case, action)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79FA4CC-9853-4C62-A369-3B7990A5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× amount at risk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171061-69E6-4EA2-9D34-4CBF24B6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− action cost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B76B5E6-14B6-48C1-81F8-7B8B2FBB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005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− fatigue penalty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19DA1A07-A583-43DE-A997-88E7E0A5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0B10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2DD5064-569A-4AEC-B22E-134FFDB4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EXPECTED NET VALUE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8DA8FA68-D715-415D-A028-D7002270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43125"/>
            <a:ext cx="54292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CF6F7FC-C582-4423-B31A-02CFC116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HARD BOUNDARIES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D99C571-27DD-4238-9CDF-D30C9B36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01  Stop: opted out, recovered, expired, exhausted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C9F3987-65D6-4D86-88EA-587F0B3C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02  Limit: recent contact fatigue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3500148-56EC-45F2-87AB-895484D7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03  Delay: quiet hours or payment degradation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FEA9613-5FCC-43F1-9A53-3E8F3F32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767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04  Escalate: sensitive decline or high value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9E13B85-08DB-417D-994C-BACEEEBA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339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05  Execute: only allowed link actions</a:t>
            </a:r>
          </a:p>
        </p:txBody>
      </p:sp>
    </p:spTree>
    <p:extLst>
      <p:ext uri="{BB962C8B-B14F-4D97-AF65-F5344CB8AC3E}">
        <p14:creationId xmlns:p14="http://schemas.microsoft.com/office/powerpoint/2010/main" val="338651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20518891-E2D6-4659-BBC2-6FBC4198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RAZORPAY AI BUILDATHON · AI REVENUE RECOVERY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016751B-CAA0-4491-99DB-5EEA3F20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80ADFA-D9C3-4011-B008-82DC83D5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Tested where recovery systems break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7F81846-DAC8-4C63-8244-CE71466B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Security, workflow integrity and evidence labelling are all exercised automatically.</a:t>
            </a:r>
          </a:p>
        </p:txBody>
      </p:sp>
      <p:sp>
        <p:nvSpPr>
          <p:cNvPr id="5" name="panel">
            <a:extLst xmlns:a="http://schemas.openxmlformats.org/drawingml/2006/main">
              <a:ext uri="{FF2B5EF4-FFF2-40B4-BE49-F238E27FC236}">
                <a16:creationId xmlns:a16="http://schemas.microsoft.com/office/drawing/2014/main" id="{40DEF18E-712E-4F93-BE07-DF58A76F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81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0A17E46D-9308-4B45-A8E8-52FE3EA0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581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52C0C33-12AF-4C73-83FF-35D8CC67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581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50BB303-5D84-4BF6-B419-B618B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295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02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BC5454F-41D5-42C4-89BC-B2DA9F4C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764EBDB-4CDA-4A70-BA26-5475817D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148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Data, model, guardrails, API, webhooks and dashboard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4D50CB0-0FB8-40A5-8D52-F0BC73EA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57550"/>
            <a:ext cx="295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02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BC0057D-607F-4C46-9CE4-DF6A3F4B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SIGNED EVENT TYPES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B5C2B7E-40AF-4271-9A5E-944C6E2C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148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payment.failed and payment_link.paid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71436B0-4ED0-4AAE-85EB-C89CB22F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57550"/>
            <a:ext cx="295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02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27FD694-40DD-4CAD-89A4-29DDC336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386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CANDIDATE ACTIONS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5856710-27F3-4102-AA53-9B344B45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148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Every score and policy decision remains inspectable</a:t>
            </a:r>
          </a:p>
        </p:txBody>
      </p:sp>
    </p:spTree>
    <p:extLst>
      <p:ext uri="{BB962C8B-B14F-4D97-AF65-F5344CB8AC3E}">
        <p14:creationId xmlns:p14="http://schemas.microsoft.com/office/powerpoint/2010/main" val="862302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0FFE7AA0-C315-4474-9655-D96AB567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RAZORPAY AI BUILDATHON · AI REVENUE RECOVERY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26952E1-9914-490D-B770-729FAA93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9EBD27-B2E2-46E7-A44B-47507612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One click proves the complete recovery loop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2BE1AD1-D4BE-420C-BE57-B0F7F344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A unique ₹1,800 case moves from signed failure to attributed recovery.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D1EA8108-FE3F-4E9A-9573-9B1E7D9A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6" name="node">
            <a:extLst xmlns:a="http://schemas.openxmlformats.org/drawingml/2006/main">
              <a:ext uri="{FF2B5EF4-FFF2-40B4-BE49-F238E27FC236}">
                <a16:creationId xmlns:a16="http://schemas.microsoft.com/office/drawing/2014/main" id="{8D326E55-32A0-4913-B4CC-74025743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19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node">
            <a:extLst xmlns:a="http://schemas.openxmlformats.org/drawingml/2006/main">
              <a:ext uri="{FF2B5EF4-FFF2-40B4-BE49-F238E27FC236}">
                <a16:creationId xmlns:a16="http://schemas.microsoft.com/office/drawing/2014/main" id="{75C986A8-DB3A-4CA7-A073-D13F18F7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019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ACFF9499-1600-4F8F-85D6-12E880AF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19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node">
            <a:extLst xmlns:a="http://schemas.openxmlformats.org/drawingml/2006/main">
              <a:ext uri="{FF2B5EF4-FFF2-40B4-BE49-F238E27FC236}">
                <a16:creationId xmlns:a16="http://schemas.microsoft.com/office/drawing/2014/main" id="{9EBADCAB-0739-45DC-8392-09B3007B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19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node">
            <a:extLst xmlns:a="http://schemas.openxmlformats.org/drawingml/2006/main">
              <a:ext uri="{FF2B5EF4-FFF2-40B4-BE49-F238E27FC236}">
                <a16:creationId xmlns:a16="http://schemas.microsoft.com/office/drawing/2014/main" id="{7666E5C4-8E11-413B-8F46-9C6148E6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019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B6A"/>
          </a:solidFill>
          <a:ln xmlns:a="http://schemas.openxmlformats.org/drawingml/2006/main" w="0">
            <a:solidFill>
              <a:srgbClr val="0B9B6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1ACC30C-F677-4140-8963-12667C28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" y="2333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DETECTED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D1EF3BF-94B6-4497-93AB-A478BF41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" y="35718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UPI failure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C1D092D-E82A-4CB3-A3A9-0C4994EF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333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DIAGNOSED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A368CA6-AD43-40C9-8974-BD221CC0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718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Network issue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FAF2D62-E449-4844-9C74-5EF48370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33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DECIDED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54100A0-42AC-4444-B4CC-412A9B84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718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Bounded action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43FEF9A-CF07-445A-98F5-E54FE99F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33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EXECUTED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54191C4-1B1C-427B-A365-CE1AC7D0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718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No external call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1DC5DCE-C58F-4272-AC99-DD9D4E80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33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9B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B6A"/>
                </a:solidFill>
                <a:latin typeface="Arial"/>
                <a:ea typeface="Arial"/>
                <a:cs typeface="Arial"/>
              </a:rPr>
              <a:t>RECOVERED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7CCA2E6-C7BC-4107-A639-DCF6993D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5718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Signed outcome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494E836E-4CE2-4DAE-B39D-35E019F3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0125"/>
            <a:ext cx="647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C49AC82-44F7-4C2F-9983-60B7C744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101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34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9B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9B6A"/>
                </a:solidFill>
                <a:latin typeface="Arial"/>
                <a:ea typeface="Arial"/>
                <a:cs typeface="Arial"/>
              </a:rPr>
              <a:t>₹1,800 signed simulation · customer contacted: false · payment API called: false</a:t>
            </a:r>
          </a:p>
        </p:txBody>
      </p:sp>
    </p:spTree>
    <p:extLst>
      <p:ext uri="{BB962C8B-B14F-4D97-AF65-F5344CB8AC3E}">
        <p14:creationId xmlns:p14="http://schemas.microsoft.com/office/powerpoint/2010/main" val="22736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12A63916-5F3B-444A-8E1C-13972D3F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RAZORPAY AI BUILDATHON · AI REVENUE RECOVERY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4669F1B-00A0-4737-974F-915B87C5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D39E6B-D4FC-4D34-9781-BDB4B805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Every requirement maps to visible evidence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DF690571-22BC-4BCD-8E58-A5EC51A9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B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89D866-7E1C-4C87-A367-5BD614E8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REQUIREMENT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71F3681-101C-4B3F-9087-1D53ED6B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0980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FEATURE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A7B003F-1CFC-46AB-A930-4D189168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20980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JUDGE EVIDENCE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29ABF032-65D6-46A6-9AF5-047300DC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6DEDF7-7EA1-4567-9845-AEC7CA69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955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Detect + diagnose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5AE101-50E3-4DEB-9BE5-520D4685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9557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Signed intake + actionable taxonomy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E906BC8-1FDF-454B-B8EE-AB7F4FF4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9557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Demo stages 1–2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CC8D09C-D0F8-4E4B-A2E5-82A8FB3F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Choose + bound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D11DDD0-800B-4824-8433-EDDB8207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2897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Five scores + deterministic guardrails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809E760-9EAF-4DD2-8CBA-896A5DEB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22897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Case candidate drawer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D21B34C7-41FC-4C3D-9842-3015D195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4E062FF-6204-4135-B0B8-3E4EA2C9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Execute + observe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D0EA72E-293E-48D7-8B53-857BEE55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76237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Safe executor + signed attribution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0C3AD75-96DC-432C-BA7F-9EC5D596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6237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Demo stages 4–5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70813A7-C9A6-45A4-8827-9F6BD7C3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Measure money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68F851D-1763-4A7E-B6F7-D5BE8D1B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29577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Expected and observed-demo metrics separated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713DD61-B973-4C10-84E5-FE1FBBC5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29577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Dashboard summary</a:t>
            </a:r>
          </a:p>
        </p:txBody>
      </p:sp>
      <p:sp>
        <p:nvSpPr>
          <p:cNvPr id="22" name="panel">
            <a:extLst xmlns:a="http://schemas.openxmlformats.org/drawingml/2006/main">
              <a:ext uri="{FF2B5EF4-FFF2-40B4-BE49-F238E27FC236}">
                <a16:creationId xmlns:a16="http://schemas.microsoft.com/office/drawing/2014/main" id="{9BA81238-676A-4B3B-97AE-5F3486CC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BF0226E-81E2-4D5A-97DD-6BE27384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91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Escalate + stop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FCF9DE6-1DC0-4357-8C03-2B2CE69A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82917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Human review and terminal rules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93EA655-DFCE-41F9-8101-D50B785C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82917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Reason codes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FBE8765-13CB-40C4-AAEA-A5F86CB0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Audit everything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0287D1B-B46A-471E-B4E9-84DB79B9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36257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90B10"/>
                </a:solidFill>
                <a:latin typeface="Arial"/>
                <a:ea typeface="Arial"/>
                <a:cs typeface="Arial"/>
              </a:rPr>
              <a:t>Persistent SHA-256 event chain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F9C22C4-0D4F-43CB-8FE7-DCB07558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36257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Audit verifier</a:t>
            </a:r>
          </a:p>
        </p:txBody>
      </p:sp>
    </p:spTree>
    <p:extLst>
      <p:ext uri="{BB962C8B-B14F-4D97-AF65-F5344CB8AC3E}">
        <p14:creationId xmlns:p14="http://schemas.microsoft.com/office/powerpoint/2010/main" val="8466083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1B35AA3C-57C2-4175-99A2-F53C926A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RAZORPAY AI BUILDATHON · AI REVENUE RECOVERY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84E4809A-4438-487A-AEA1-1A943336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1433E3-5C0D-4969-8B7F-41AC691C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Trust begins with an honest evidence boundary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5EAC6E1-3525-446B-A602-06683FFB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9B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B6A"/>
                </a:solidFill>
                <a:latin typeface="Arial"/>
                <a:ea typeface="Arial"/>
                <a:cs typeface="Arial"/>
              </a:rPr>
              <a:t>WHAT WE CAN SHOW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B036AED-3EC9-42B4-8DD8-E735D385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4857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• A working end-to-end system</a:t>
            </a:r>
          </a:p>
          <a:p xmlns:a="http://schemas.openxmlformats.org/drawingml/2006/main">
            <a:pPr algn="l">
              <a:defRPr sz="2025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• Calibrated predictions on synthetic data</a:t>
            </a:r>
          </a:p>
          <a:p xmlns:a="http://schemas.openxmlformats.org/drawingml/2006/main">
            <a:pPr algn="l">
              <a:defRPr sz="2025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• Signed local outcome attribution</a:t>
            </a:r>
          </a:p>
          <a:p xmlns:a="http://schemas.openxmlformats.org/drawingml/2006/main">
            <a:pPr algn="l">
              <a:defRPr sz="2025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• Deterministic safety behavior</a:t>
            </a:r>
          </a:p>
          <a:p xmlns:a="http://schemas.openxmlformats.org/drawingml/2006/main">
            <a:pPr algn="l">
              <a:defRPr sz="2025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• Tamper-evident audit verification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A782F46-763D-404B-8449-06D394DC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C3D5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C3D50"/>
                </a:solidFill>
                <a:latin typeface="Arial"/>
                <a:ea typeface="Arial"/>
                <a:cs typeface="Arial"/>
              </a:rPr>
              <a:t>WHAT WE DO NOT CLAIM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7EA5DF7-E335-472E-A688-9C57B779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• Production money recovered</a:t>
            </a:r>
          </a:p>
          <a:p xmlns:a="http://schemas.openxmlformats.org/drawingml/2006/main">
            <a:pPr algn="l">
              <a:defRPr sz="2025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• Causal uplift from an intervention</a:t>
            </a:r>
          </a:p>
          <a:p xmlns:a="http://schemas.openxmlformats.org/drawingml/2006/main">
            <a:pPr algn="l">
              <a:defRPr sz="2025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• Real customer contact</a:t>
            </a:r>
          </a:p>
          <a:p xmlns:a="http://schemas.openxmlformats.org/drawingml/2006/main">
            <a:pPr algn="l">
              <a:defRPr sz="2025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• Live Razorpay Payment Link creation</a:t>
            </a:r>
          </a:p>
          <a:p xmlns:a="http://schemas.openxmlformats.org/drawingml/2006/main">
            <a:pPr algn="l">
              <a:defRPr sz="2025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• Immutable production audit storage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2FDDA13-8C4A-47B8-9CA7-6501FEE3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98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Production proof requires randomized assignment plus real webhook outcomes.</a:t>
            </a:r>
          </a:p>
        </p:txBody>
      </p:sp>
    </p:spTree>
    <p:extLst>
      <p:ext uri="{BB962C8B-B14F-4D97-AF65-F5344CB8AC3E}">
        <p14:creationId xmlns:p14="http://schemas.microsoft.com/office/powerpoint/2010/main" val="997773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B6503E84-8622-4E28-8D47-95409F89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C6470"/>
                </a:solidFill>
                <a:latin typeface="Arial"/>
                <a:ea typeface="Arial"/>
                <a:cs typeface="Arial"/>
              </a:rPr>
              <a:t>WHY REVIVEROUTE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ACC49C7-6628-4D6F-B42F-0B877A53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335D6AA0-0B7C-440C-80DD-A418B112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953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A narrow recovery loop,</a:t>
            </a:r>
          </a:p>
          <a:p xmlns:a="http://schemas.openxmlformats.org/drawingml/2006/main">
            <a:pPr algn="l">
              <a:defRPr sz="49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built deeply enough to trust.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B7F310C-12FD-4533-B6E0-851D2720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7B1E297-FBDE-455F-A10B-C591B59E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Working AI selection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6F7932C-70E6-4C30-B9F2-169803BA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Deterministic safety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230421D-24C3-4F22-BC2A-4111F52A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B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B10"/>
                </a:solidFill>
                <a:latin typeface="Arial"/>
                <a:ea typeface="Arial"/>
                <a:cs typeface="Arial"/>
              </a:rPr>
              <a:t>Signed outcome proof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6D23908-C991-4A05-AEA4-77A91890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019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4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C6470"/>
                </a:solidFill>
                <a:latin typeface="Arial"/>
                <a:ea typeface="Arial"/>
                <a:cs typeface="Arial"/>
              </a:rPr>
              <a:t>Next: replace the simulator with Razorpay test mode behind an explicit switch, then learn causal uplift from randomized outcomes.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D618E8E-5CFA-451F-B75F-1A620798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190625"/>
            <a:ext cx="857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BFD2DC5-73D5-489C-B115-A8442FA2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333625"/>
            <a:ext cx="457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3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</a:t>
            </a:r>
          </a:p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623961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2026-09-03T14:19:54.4740000Z</dcterms:created>
  <dcterms:modified xsi:type="dcterms:W3CDTF">2026-09-03T14:19:54.4740000Z</dcterms:modified>
</coreProperties>
</file>